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pack is built to be read without me. Every slide states its conclusion in the title, and the reasoning sits underneath it.</a:t>
            </a:r>
          </a:p>
          <a:p/>
          <a:p>
            <a:r>
              <a:t>[Sources]</a:t>
            </a:r>
          </a:p>
          <a:p>
            <a:r>
              <a:t>- outputs/sales_master.csv, P&amp;L Table.xlsx and Market Report MAT Nov'24.xlsx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questions, six exhibits. Read the titles alone and you have the argument.</a:t>
            </a:r>
          </a:p>
          <a:p/>
          <a:p>
            <a:r>
              <a:t>Questions 1 and 2 establish how serious this is and whose problem it is. Questions 3 and 4 locate the damage and explain the profit result. Questions 5 and 6 are what we do about it.</a:t>
            </a:r>
          </a:p>
          <a:p/>
          <a:p>
            <a:r>
              <a:t>[Sources]</a:t>
            </a:r>
          </a:p>
          <a:p>
            <a:r>
              <a:t>- outputs/sales_master.csv, P&amp;L Table.xlsx and Market Report MAT Nov'24.xlsx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favourable line in this year's P&amp;L is a cost line.</a:t>
            </a:r>
          </a:p>
          <a:p/>
          <a:p>
            <a:r>
              <a:t>I am leading with the conclusion rather than walking you through the analysis. The €15.5m taken out of marketing is larger than the €10.3m of Gross Profit lost — that gap, and nothing about demand, is why PBO is up.</a:t>
            </a:r>
          </a:p>
          <a:p/>
          <a:p>
            <a:r>
              <a:t>[Sources]</a:t>
            </a:r>
          </a:p>
          <a:p>
            <a:r>
              <a:t>- outputs/sales_master.csv, P&amp;L Table.xlsx and Market Report MAT Nov'24.xlsx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KPIs, three adverse moves — and the discount rate made the last one worse.</a:t>
            </a:r>
          </a:p>
          <a:p/>
          <a:p>
            <a:r>
              <a:t>Turnover fell €19.6m and GSV €22.3m. Turnover fell the faster of the two because discount on Turnover rose 103bps at the same time.</a:t>
            </a:r>
          </a:p>
          <a:p/>
          <a:p>
            <a:r>
              <a:t>[Sources]</a:t>
            </a:r>
          </a:p>
          <a:p>
            <a:r>
              <a:t>- P&amp;L Table.xlsx and outputs/sales_master.csv  |  Discount is stated on Turnover, the P&amp;L convention; on GSV the same movement reads 21.93% to 22.55% (+62bps)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No. The category fell 1.3% and we fell 4.3% — the gap is ours to explain.</a:t>
            </a:r>
          </a:p>
          <a:p/>
          <a:p>
            <a:r>
              <a:t>Economy grew 17.7% and Premium 3.9%. The decline is Mainstream, which is where 79% of our turnover sits, and where we gave back 2.98 share points.</a:t>
            </a:r>
          </a:p>
          <a:p/>
          <a:p>
            <a:r>
              <a:t>[Sources]</a:t>
            </a:r>
          </a:p>
          <a:p>
            <a:r>
              <a:t>- Market Report MAT Nov'24.xlsx  |  Segment rows sum the named brands only, which cover 82.9% of Category; Category is the file's own total, not their sum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Modern Trade. Same category decline, six times the share loss.</a:t>
            </a:r>
          </a:p>
          <a:p/>
          <a:p>
            <a:r>
              <a:t>MT Mainstream fell 13.8% while MT Economy grew 41.4%, most of it LILAC at +5.53 points. DT lost only 0.28 share points against MT's 6.07.</a:t>
            </a:r>
          </a:p>
          <a:p/>
          <a:p>
            <a:r>
              <a:t>[Sources]</a:t>
            </a:r>
          </a:p>
          <a:p>
            <a:r>
              <a:t>- Market Report MAT Nov'24.xlsx  |  Category growth is identical (-1.3%) at Total, DT and MT - the source scales it proportionally, so this row repeats page 2 by construction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second-half problem in one brand and one channel — which narrows the fix.</a:t>
            </a:r>
          </a:p>
          <a:p/>
          <a:p>
            <a:r>
              <a:t>H1 was down €2.99m, H2 down €5.74m. November is the only month above FY2023. Monthly sell-in does not by itself establish seasonality.</a:t>
            </a:r>
          </a:p>
          <a:p/>
          <a:p>
            <a:r>
              <a:t>[Sources]</a:t>
            </a:r>
          </a:p>
          <a:p>
            <a:r>
              <a:t>- outputs/sales_master.csv  |  Internal sell-in GSV on the raw reporting base; monthly weakness does not by itself establish seasonality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PBO protection is cost-led. It is repeatable once, maybe twice.</a:t>
            </a:r>
          </a:p>
          <a:p/>
          <a:p>
            <a:r>
              <a:t>OLIVE marketing fell 30% and supply chain 5%. Supply chain cost per euro of Turnover still worsened 35bps, so this is a smaller base, not efficiency.</a:t>
            </a:r>
          </a:p>
          <a:p/>
          <a:p>
            <a:r>
              <a:t>[Sources]</a:t>
            </a:r>
          </a:p>
          <a:p>
            <a:r>
              <a:t>- P&amp;L Table.xlsx  |  Marketing and supply chain cost are P&amp;L assumptions stated in the source workbook, not measured spend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brand to scale on evidence, one to diagnose before funding.</a:t>
            </a:r>
          </a:p>
          <a:p/>
          <a:p>
            <a:r>
              <a:t>COBALT grew 11.6% against a market up 3.9% and gained 0.56 share points. SKY fell 7.4% while its market grew 23.8% — reconcile that before spending.</a:t>
            </a:r>
          </a:p>
          <a:p/>
          <a:p>
            <a:r>
              <a:t>[Sources]</a:t>
            </a:r>
          </a:p>
          <a:p>
            <a:r>
              <a:t>- P&amp;L Table.xlsx and Market Report MAT Nov'24.xlsx  |  Internal Turnover is FY sell-in; market value is MAT Nov'24 sell-out - different periods and different measures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Restore profitable growth without giving back the protected PBO.</a:t>
            </a:r>
          </a:p>
          <a:p/>
          <a:p>
            <a:r>
              <a:t>Each action has a first gate rather than a budget, so the decision today is to start, not to spend. Owners are named and the KPIs are already defined.</a:t>
            </a:r>
          </a:p>
          <a:p/>
          <a:p>
            <a:r>
              <a:t>[Sources]</a:t>
            </a:r>
          </a:p>
          <a:p>
            <a:r>
              <a:t>- references/domain/calls-to-action-by-audience.md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qualifications I would give verbally, written down because this pack will be read without me. Every chart has a matching CSV in outputs/report_visuals/data/.</a:t>
            </a:r>
          </a:p>
          <a:p/>
          <a:p>
            <a:r>
              <a:t>[Sources]</a:t>
            </a:r>
          </a:p>
          <a:p>
            <a:r>
              <a:t>- STORYLINE_METRIC_FRAMEWORK.md and visualisations.ipynb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2331720"/>
            <a:ext cx="1085087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004C6D"/>
                </a:solidFill>
                <a:latin typeface="Arial"/>
              </a:rPr>
              <a:t>FY2024 performance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3840480"/>
            <a:ext cx="108508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Arial"/>
              </a:rPr>
              <a:t>UniSweet Leadership and Finance Business Partners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Arial"/>
              </a:rPr>
              <a:t>Prepared from Sales, P&amp;L and Market data  |  FY2024 versus FY2023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outputs/sales_master.csv, P&amp;L Table.xlsx and Market Report MAT Nov'24.xlsx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THE 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The argument runs in six steps, and the answer comes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645919"/>
            <a:ext cx="108508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262626"/>
                </a:solidFill>
                <a:latin typeface="Arial"/>
              </a:rPr>
              <a:t>1.  How bad is it?  —  the three topline KPIs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2487168"/>
            <a:ext cx="108508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262626"/>
                </a:solidFill>
                <a:latin typeface="Arial"/>
              </a:rPr>
              <a:t>2.  Did the market do this to us?  —  category and segment growth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3328415"/>
            <a:ext cx="108508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262626"/>
                </a:solidFill>
                <a:latin typeface="Arial"/>
              </a:rPr>
              <a:t>3.  Where exactly did it break?  —  the channel, then one brand inside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4169664"/>
            <a:ext cx="108508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262626"/>
                </a:solidFill>
                <a:latin typeface="Arial"/>
              </a:rPr>
              <a:t>4.  Why did PBO still rise?  —  marketing and supply chain cost by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5010912"/>
            <a:ext cx="108508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262626"/>
                </a:solidFill>
                <a:latin typeface="Arial"/>
              </a:rPr>
              <a:t>5.  What is left to grow?  —  COBALT and SKY against their own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5852160"/>
            <a:ext cx="108508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262626"/>
                </a:solidFill>
                <a:latin typeface="Arial"/>
              </a:rPr>
              <a:t>6.  What we are asking for  —  three gated actions, owners named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outputs/sales_master.csv, P&amp;L Table.xlsx and Market Report MAT Nov'24.xlsx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THE ANSWER, UP FRONT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Profit rose, but the business did not get healthier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3063493"/>
            <a:ext cx="10850879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2600" b="1">
                <a:solidFill>
                  <a:srgbClr val="262626"/>
                </a:solidFill>
                <a:latin typeface="Arial"/>
              </a:rPr>
              <a:t>Topline and share fell. Lower spend alone protected PBO.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3876802"/>
            <a:ext cx="1085087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300" b="0">
                <a:solidFill>
                  <a:srgbClr val="595959"/>
                </a:solidFill>
                <a:latin typeface="Arial"/>
              </a:rPr>
              <a:t>Restore profitable growth without giving back the protected profit.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outputs/sales_master.csv, P&amp;L Table.xlsx and Market Report MAT Nov'24.xlsx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scorecard_to_gsv_dis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WHERE WE ENDED UP  |  1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Every topline KPI moved against us in FY2024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FY2024 versus FY2023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P&amp;L Table.xlsx and outputs/sales_master.csv  |  Discount is stated on Turnover, the P&amp;L convention; on GSV the same movement reads 21.93% to 22.55% (+62bps)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market_growth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DID THE MARKET DO THIS TO US?  |  2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The category barely moved; Mainstream is where the value went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Market sales value, EURm  |  MAT Nov'24 versus MAT-1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Market Report MAT Nov'24.xlsx  |  Segment rows sum the named brands only, which cover 82.9% of Category; Category is the file's own total, not their sum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market_growth_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WHERE DID IT BREAK?  |  3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In Modern Trade the same category decline cost us six share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Market sales value, EURm  |  Modern Trade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Market Report MAT Nov'24.xlsx  |  Category growth is identical (-1.3%) at Total, DT and MT - the source scales it proportionally, so this row repeats page 2 by construction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olive_mt_monthly_g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WHERE DID IT BREAK?  |  4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OLIVE in MT lost €8.73m of GSV, two thirds of it after June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OLIVE gross sales value in Modern Trade, EURm per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outputs/sales_master.csv  |  Internal sell-in GSV on the raw reporting base; monthly weakness does not by itself establish seasonality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cost_by_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WHY DID PBO STILL RISE?  |  5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Profit held because we spent less, not because we sold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Marketing expense and total supply chain cost, EURm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P&amp;L Table.xlsx  |  Marketing and supply chain cost are P&amp;L assumptions stated in the source workbook, not measured spend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revenue_cobalt_s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WHAT IS LEFT TO GROW?  |  6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COBALT is compounding; SKY is losing sell-in into a market that grew 23.8%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Turnover, EURm  |  Against each brand's own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P&amp;L Table.xlsx and Market Report MAT Nov'24.xlsx  |  Internal Turnover is FY sell-in; market value is MAT Nov'24 sell-out - different periods and different measures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Approve the three week-0 gates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645919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004C6D"/>
                </a:solidFill>
                <a:latin typeface="Arial"/>
              </a:rPr>
              <a:t>ACTION 1  ·  SALES 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1901952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Approve the OLIVE × Modern Trade recovery baseline and its customer × SKU economics, weeks 0-2.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2487168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004C6D"/>
                </a:solidFill>
                <a:latin typeface="Arial"/>
              </a:rPr>
              <a:t>ACTION 2  ·  SALES 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2743200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Approve classifying trade spend into keep, test, redesign or stop before any budget is restored.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3328415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004C6D"/>
                </a:solidFill>
                <a:latin typeface="Arial"/>
              </a:rPr>
              <a:t>ACTION 3  ·  FINANCE 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3584448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Agree scale funding is released only after positive incremental Gross Profit — COBALT first, SKY only after diagnosis.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" y="4169664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004C6D"/>
                </a:solidFill>
                <a:latin typeface="Arial"/>
              </a:rPr>
              <a:t>IF WE DO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" y="4425696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The marketing lever cannot be pulled twice; FY2025 PBO carries the full topline decline.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references/domain/calls-to-action-by-audience.md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APPENDIX  |  HOW TO READ THIS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Sources, definitions and what this analysis does not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645919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INTERNAL SALES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1901952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outputs/sales_master.csv — every row retained, so GSV, Discount and TO tie exactly to the P&amp;L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2487168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2743200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inputs/pnl/P&amp;L Table.xlsx. Marketing and supply chain cost are stated assumptions, not measured spend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3328415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3584448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inputs/market/Market Report MAT Nov'24.xlsx — MAT sell-out, a different clock from internal FY sell-in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" y="4169664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TWO LIMITS WORTH STATING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" y="4425696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Segment rows sum named brands only (82.9% at Total, 90.9% in MT); category growth is identical in every channel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" y="5010912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NOT CLAIMED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60" y="5266944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Discount movement is not causality. Lower cost is not efficiency. SKY's divergence is a question.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STORYLINE_METRIC_FRAMEWORK.md and visualisations.ipynb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